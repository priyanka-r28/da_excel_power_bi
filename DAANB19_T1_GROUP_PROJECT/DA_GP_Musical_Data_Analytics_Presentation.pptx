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45" r:id="rId1"/>
  </p:sldMasterIdLst>
  <p:sldIdLst>
    <p:sldId id="256" r:id="rId2"/>
    <p:sldId id="257" r:id="rId3"/>
    <p:sldId id="266" r:id="rId4"/>
    <p:sldId id="258" r:id="rId5"/>
    <p:sldId id="267" r:id="rId6"/>
    <p:sldId id="259" r:id="rId7"/>
    <p:sldId id="260" r:id="rId8"/>
    <p:sldId id="268" r:id="rId9"/>
    <p:sldId id="269" r:id="rId10"/>
    <p:sldId id="261" r:id="rId11"/>
    <p:sldId id="262" r:id="rId12"/>
    <p:sldId id="270" r:id="rId13"/>
    <p:sldId id="271" r:id="rId14"/>
    <p:sldId id="263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72" r:id="rId26"/>
    <p:sldId id="264" r:id="rId27"/>
    <p:sldId id="265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509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225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638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717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655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825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551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99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451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573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1401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901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8141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7342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534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3676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964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162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6" r:id="rId1"/>
    <p:sldLayoutId id="2147484147" r:id="rId2"/>
    <p:sldLayoutId id="2147484148" r:id="rId3"/>
    <p:sldLayoutId id="2147484149" r:id="rId4"/>
    <p:sldLayoutId id="2147484150" r:id="rId5"/>
    <p:sldLayoutId id="2147484151" r:id="rId6"/>
    <p:sldLayoutId id="2147484152" r:id="rId7"/>
    <p:sldLayoutId id="2147484153" r:id="rId8"/>
    <p:sldLayoutId id="2147484154" r:id="rId9"/>
    <p:sldLayoutId id="2147484155" r:id="rId10"/>
    <p:sldLayoutId id="2147484156" r:id="rId11"/>
    <p:sldLayoutId id="2147484157" r:id="rId12"/>
    <p:sldLayoutId id="2147484158" r:id="rId13"/>
    <p:sldLayoutId id="2147484159" r:id="rId14"/>
    <p:sldLayoutId id="2147484160" r:id="rId15"/>
    <p:sldLayoutId id="2147484161" r:id="rId16"/>
    <p:sldLayoutId id="214748416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0472" y="941834"/>
            <a:ext cx="7397496" cy="160934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DRIVEN DATA ANALYTICS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6B9092-1D9C-76D3-1909-985A580643EB}"/>
              </a:ext>
            </a:extLst>
          </p:cNvPr>
          <p:cNvSpPr txBox="1"/>
          <p:nvPr/>
        </p:nvSpPr>
        <p:spPr>
          <a:xfrm>
            <a:off x="1709928" y="2730485"/>
            <a:ext cx="6940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MUSIC PERFORMANCE &amp; STREAMING ANALYTICS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234565E-1AC3-027F-10AD-BF678168A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967977"/>
              </p:ext>
            </p:extLst>
          </p:nvPr>
        </p:nvGraphicFramePr>
        <p:xfrm>
          <a:off x="5294376" y="4306824"/>
          <a:ext cx="3779520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89760">
                  <a:extLst>
                    <a:ext uri="{9D8B030D-6E8A-4147-A177-3AD203B41FA5}">
                      <a16:colId xmlns:a16="http://schemas.microsoft.com/office/drawing/2014/main" val="2138036071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38451774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                   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T1_ANB19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791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Organization       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Entri Elevate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66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Batch                    :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FNANB19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422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Mentor                 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Kumaran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59334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627631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981" y="1953768"/>
            <a:ext cx="7704667" cy="3332816"/>
          </a:xfrm>
        </p:spPr>
        <p:txBody>
          <a:bodyPr>
            <a:normAutofit/>
          </a:bodyPr>
          <a:lstStyle/>
          <a:p>
            <a:pPr>
              <a:defRPr sz="2400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Priyanka R – Team Lead</a:t>
            </a:r>
          </a:p>
          <a:p>
            <a:pPr>
              <a:defRPr sz="2400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Mohammed Fasi S – Data Preparation Analyst</a:t>
            </a:r>
          </a:p>
          <a:p>
            <a:pPr>
              <a:defRPr sz="2400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Nithish S - Data Analyst</a:t>
            </a:r>
          </a:p>
          <a:p>
            <a:pPr>
              <a:defRPr sz="2400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Jagadishwaran R - Dashboard Developer</a:t>
            </a:r>
          </a:p>
          <a:p>
            <a:pPr>
              <a:defRPr sz="2400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Ramya M - Data Storyteller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4D56C-7BE1-FD46-8766-8E3585B0F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BDFE4-C29B-8C53-187C-B65A05DB1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41F50-F5B0-0D63-C244-4D0481469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2185416"/>
            <a:ext cx="7704667" cy="3814400"/>
          </a:xfrm>
        </p:spPr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  <a:defRPr sz="24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&amp; Objectives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Preprocessing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KPI’s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Demonstration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Findings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&amp; Answers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154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938528"/>
            <a:ext cx="7704667" cy="4061288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 Performance &amp; Streaming Analytics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global music streaming dataset to understand the factors influencing song popularity and audience engagement across multiple digital platforms.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includes information on songs, artists, albums, release dates, streaming counts, playlist reach, and engagement metrics from platforms such as Spotify, YouTube, TikTok, Apple Music, Deezer, Amazon Music,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AirPlay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SiriusXM.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data cleaning and exploratory data analysis 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interactive dashboard development, this project transforms raw data into meaningful insights that support data-driven decision-making.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C1F5D-B20B-E326-29CC-7DAE3C523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C4428-B001-9464-6387-0CD01BC14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170431"/>
          </a:xfrm>
        </p:spPr>
        <p:txBody>
          <a:bodyPr>
            <a:normAutofit/>
          </a:bodyPr>
          <a:lstStyle/>
          <a:p>
            <a:pPr>
              <a:defRPr sz="2400"/>
            </a:pP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86E97-1917-3F61-93CF-4719DD1FA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801368"/>
            <a:ext cx="7704667" cy="4198448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preprocess the music streaming dataset by handling missing values, duplicates, inconsistent formats, and unwanted characters.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performance of songs, artists, and albums using key streaming and popularity metrics.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audience engagement across multiple music streaming platforms.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trends in song popularity based on release year and playlist inclusion.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relationships between Spotify streams, YouTube views, TikTok engagement, and playlist reach.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interactive Power BI dashboard to visualize key performance indicators (KPIs) and business insights.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actionable insights to understand the key factors contributing to a song's success.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3205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566929"/>
            <a:ext cx="7704667" cy="1325879"/>
          </a:xfrm>
        </p:spPr>
        <p:txBody>
          <a:bodyPr/>
          <a:lstStyle/>
          <a:p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892808"/>
            <a:ext cx="7704667" cy="4107008"/>
          </a:xfrm>
        </p:spPr>
        <p:txBody>
          <a:bodyPr>
            <a:normAutofit/>
          </a:bodyPr>
          <a:lstStyle/>
          <a:p>
            <a:pPr marL="0" indent="0">
              <a:buNone/>
              <a:defRPr sz="2400"/>
            </a:pPr>
            <a:endParaRPr lang="en-US" dirty="0"/>
          </a:p>
          <a:p>
            <a:pPr>
              <a:defRPr sz="2400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 Performance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>
              <a:defRPr sz="24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Rows: 4,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600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4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Fields: Artist, Track, Streams, Release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,ISRC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,All time Rank, Track score 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spodify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streams 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spodify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playlist count ,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spodify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play list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reach,spodify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popularity,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youtube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views ,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youtube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likes ,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tiktok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 ,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tiktok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likes ,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tiktok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views , YouTube Playlist Reach , Apple Music Playlist Count 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AirPlay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Spins , SiriusXM Spins , Deezer Playlist Count , Deezer Playlist Reach , Amazon Playlist Count , Pandora Streams , Pandora Track Stations , Soundcloud Streams , Shazam Counts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142999"/>
          </a:xfrm>
        </p:spPr>
        <p:txBody>
          <a:bodyPr/>
          <a:lstStyle/>
          <a:p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Pre-processing</a:t>
            </a:r>
            <a:endParaRPr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600200"/>
            <a:ext cx="7704667" cy="4399616"/>
          </a:xfrm>
        </p:spPr>
        <p:txBody>
          <a:bodyPr>
            <a:normAutofit fontScale="85000" lnSpcReduction="20000"/>
          </a:bodyPr>
          <a:lstStyle/>
          <a:p>
            <a:pPr>
              <a:defRPr sz="2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Corrected inconsistent text values (track names, album names, artist names).</a:t>
            </a:r>
          </a:p>
          <a:p>
            <a:pPr marL="0" indent="0">
              <a:buNone/>
              <a:defRPr sz="2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Formula: 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=PROPER(TRIM(CLEAN([@[Album Name]])))</a:t>
            </a:r>
          </a:p>
          <a:p>
            <a:pPr marL="0" indent="0">
              <a:buNone/>
              <a:defRPr sz="2400"/>
            </a:pP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=PROPER(TRIM(CLEAN([@Artist])))</a:t>
            </a:r>
          </a:p>
          <a:p>
            <a:pPr>
              <a:defRPr sz="2400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records where song details could not be identified using the ISRC code.</a:t>
            </a:r>
          </a:p>
          <a:p>
            <a:pPr>
              <a:defRPr sz="2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unwanted/special characters from text fields. Trimmed extra spaces and cleaned non-printable characters.</a:t>
            </a:r>
          </a:p>
          <a:p>
            <a:pPr marL="0" indent="0">
              <a:buNone/>
              <a:defRPr sz="24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Formula:         	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=TRIM(SUBSTITUTE(SUBSTITUTE(SUBSTITUTE(SUBSTITUTE(SUBSTIT	UTE(B160,“	ï¿½",""),"Ï¿½",""),"ï",""),"¿",""),"?",""))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4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values using appropriate techniques (Median/Mean where applicable).</a:t>
            </a:r>
          </a:p>
          <a:p>
            <a:pPr marL="0" indent="0">
              <a:buNone/>
              <a:defRPr sz="24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85423-CDDE-4C80-C089-CF9676536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E58F2-9115-44C7-4DEB-1B42905FC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142999"/>
          </a:xfrm>
        </p:spPr>
        <p:txBody>
          <a:bodyPr/>
          <a:lstStyle/>
          <a:p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Pre-processing</a:t>
            </a:r>
            <a:endParaRPr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13FD5-BA4C-E418-B194-3AE6ED5E6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453896"/>
            <a:ext cx="7704667" cy="4545920"/>
          </a:xfrm>
        </p:spPr>
        <p:txBody>
          <a:bodyPr>
            <a:normAutofit/>
          </a:bodyPr>
          <a:lstStyle/>
          <a:p>
            <a:pPr>
              <a:defRPr sz="24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Release date formats for consistency.</a:t>
            </a:r>
          </a:p>
          <a:p>
            <a:pPr>
              <a:defRPr sz="2400"/>
            </a:pPr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Formula: =IF(ISNUMBER(D2),TEXT(D2,"dd-mm-	</a:t>
            </a:r>
            <a:r>
              <a:rPr lang="en-US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yyyy</a:t>
            </a:r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"),IF(ISNUMBER(SEARCH("/",D2)),TEXT(DATE(RIGHT(D2,4),LEFT(D2,FIN	D("/",D2)-		1),MID(D2,FIND("/",D2)+1,FIND("/",D2,FIND("/",D2)+1)-	FIND("/",D2)-1)),"dd-mm-	</a:t>
            </a:r>
            <a:r>
              <a:rPr lang="en-US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yyyy</a:t>
            </a:r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"),TEXT(DATE(RIGHT(D2,4),MID(D2,4,2),LEFT(D2,2)),"dd-mm-</a:t>
            </a:r>
            <a:r>
              <a:rPr lang="en-US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yyyy</a:t>
            </a:r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")))</a:t>
            </a:r>
          </a:p>
          <a:p>
            <a:pPr>
              <a:defRPr sz="24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all the columns to the correct data types.</a:t>
            </a:r>
          </a:p>
          <a:p>
            <a:pPr>
              <a:defRPr sz="24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the dataset to ensure completeness and consistency before analysis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483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27AB3-CD34-3AFF-1D67-33AFEB652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D89FA-1091-8374-60C9-72CA3B58A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142999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3E7D4-C781-2D8E-B5D4-3B59F7E68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453896"/>
            <a:ext cx="7704667" cy="4545920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TRIM, CLEAN, SUBSTITUTE, PROPER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MEAN, MEDIAN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Pivot Tables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Statistics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Measures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Card’s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</a:t>
            </a:r>
          </a:p>
        </p:txBody>
      </p:sp>
    </p:spTree>
    <p:extLst>
      <p:ext uri="{BB962C8B-B14F-4D97-AF65-F5344CB8AC3E}">
        <p14:creationId xmlns:p14="http://schemas.microsoft.com/office/powerpoint/2010/main" val="1204674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285" y="146304"/>
            <a:ext cx="7704667" cy="749807"/>
          </a:xfrm>
        </p:spPr>
        <p:txBody>
          <a:bodyPr>
            <a:normAutofit fontScale="90000"/>
          </a:bodyPr>
          <a:lstStyle/>
          <a:p>
            <a:pPr>
              <a:defRPr sz="2400"/>
            </a:pP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KPI’s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216152"/>
            <a:ext cx="7704667" cy="5120640"/>
          </a:xfrm>
        </p:spPr>
        <p:txBody>
          <a:bodyPr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Dataset Metrics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🎵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Songs: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4,585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1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Total_Songs</a:t>
            </a: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COUNTA(DA_GP_ANB19_Cleaned[Track])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4,585 songs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various artists and albums across multiple music streaming platforms.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🎤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Artists: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2,065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2,065 unique artists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analysis of artist performance, popularity, and streaming trends.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Unique_Artist</a:t>
            </a: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DISTINCTCOUNT(DA_GP_ANB19_Cleaned[Artist])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💿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Albums: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4,032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4,032 albums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allowing comparison of album popularity and overall performance.</a:t>
            </a:r>
          </a:p>
          <a:p>
            <a:r>
              <a:rPr lang="en-IN" sz="1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Total_albums</a:t>
            </a:r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DISTINCTCOUNT(DA_GP_ANB19_Cleaned[Album Name])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283465"/>
            <a:ext cx="7704667" cy="768095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Demonstration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9CB9C23-5C32-5F65-B913-829682416D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2872" y="1143000"/>
            <a:ext cx="7383719" cy="48097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F8F85-B5E3-ADE1-CE1C-61CA57BDD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1ECE7-0D69-D4CE-4083-21DB2BB4E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338329"/>
            <a:ext cx="7704667" cy="859535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Demonstration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803459E-FE2C-A794-CFC0-3917431DD9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9616" y="1307592"/>
            <a:ext cx="7190230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386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9ED9A-9C45-1F62-E458-3D985D6B2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BF343-0C75-36F3-5BCF-F9D44DAB6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338329"/>
            <a:ext cx="7704667" cy="722375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Demonstration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1207E5C-878D-A5FD-3B83-88D070019C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0083" y="1207008"/>
            <a:ext cx="7249296" cy="479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121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182881"/>
            <a:ext cx="7704667" cy="93268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Findings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033271"/>
            <a:ext cx="7704667" cy="5257801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Insights – Artist Performance</a:t>
            </a:r>
            <a:endParaRPr lang="en-IN" sz="5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Audience Reach is Not Determined by the Number of Songs</a:t>
            </a:r>
            <a:endParaRPr lang="en-IN" sz="5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b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Kevin MacLeod </a:t>
            </a: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ranks first in Total Views despite having only one track in the dataset, while Taylor Swift and Drake have many more songs but hold next place in the performance.</a:t>
            </a:r>
          </a:p>
          <a:p>
            <a:pPr marL="0" indent="0">
              <a:buNone/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Decision:</a:t>
            </a:r>
            <a:b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 companies should evaluate artists based on </a:t>
            </a: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audience engagement and content value</a:t>
            </a: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just the size of their music catalogue.</a:t>
            </a:r>
          </a:p>
          <a:p>
            <a:pPr marL="0" indent="0">
              <a:buNone/>
            </a:pP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Larger Catalogues Support Long-Term Growth</a:t>
            </a:r>
            <a:endParaRPr lang="en-IN" sz="5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b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Taylor Swift (64 songs), Drake (61 songs), and Bad Bunny (59 songs) </a:t>
            </a: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the largest catalogues and consistently rank among the top-performing artists.</a:t>
            </a:r>
          </a:p>
          <a:p>
            <a:pPr marL="0" indent="0">
              <a:buNone/>
            </a:pPr>
            <a:r>
              <a:rPr lang="en-IN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Decision:</a:t>
            </a:r>
            <a:b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labels should encourage </a:t>
            </a: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music releases</a:t>
            </a: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build sustainable streaming revenue over time.</a:t>
            </a:r>
          </a:p>
          <a:p>
            <a:b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F8AB8-3089-6F86-2839-407D9CDDD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CFD58-5756-89EE-D2A4-FA4773328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182881"/>
            <a:ext cx="7704667" cy="93268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Findings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B1C16-9CEF-B8E3-CF8D-E3D9071D6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033271"/>
            <a:ext cx="7704667" cy="5166361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High-Quality Content Can Outperform High Quantity</a:t>
            </a:r>
            <a:endParaRPr lang="en-IN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b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Artists with fewer songs, such as Kevin MacLeod and The </a:t>
            </a:r>
            <a:r>
              <a:rPr lang="en-IN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Weeknd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generate exceptionally high audience reach, indicating that content quality and reuse are key success factors.</a:t>
            </a:r>
          </a:p>
          <a:p>
            <a:pPr marL="0" indent="0">
              <a:buNone/>
            </a:pP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Decision:</a:t>
            </a:r>
            <a:b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should prioritize </a:t>
            </a:r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high-impact songs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strong engagement potential rather than focusing only on increasing the number of releases.</a:t>
            </a:r>
          </a:p>
          <a:p>
            <a:pPr marL="0" indent="0">
              <a:buNone/>
            </a:pP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Spotify Popularity Reflects Current Market Trends</a:t>
            </a:r>
            <a:endParaRPr lang="en-IN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b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Artists like </a:t>
            </a:r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 </a:t>
            </a:r>
            <a:r>
              <a:rPr lang="en-IN" sz="3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Bankz</a:t>
            </a:r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Djo </a:t>
            </a: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the highest Spotify popularity scores, showing strong current listener interest even though they are not among the highest in total views.</a:t>
            </a:r>
          </a:p>
          <a:p>
            <a:pPr marL="0" indent="0">
              <a:buNone/>
            </a:pP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Decision:</a:t>
            </a:r>
            <a:b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teams should use Spotify Popularity to identify trending artists and launch timely promotional campaigns.</a:t>
            </a:r>
          </a:p>
          <a:p>
            <a:pPr marL="0" indent="0">
              <a:buNone/>
            </a:pPr>
            <a:b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356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5D0EB-2147-5700-5914-92ADDF596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7F313-C105-32FC-69BF-1174EDC60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182881"/>
            <a:ext cx="7704667" cy="93268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Findings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5680D-FA95-2CD6-7461-8C7E13A53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033271"/>
            <a:ext cx="7704667" cy="550468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Song Performance </a:t>
            </a:r>
          </a:p>
          <a:p>
            <a:pPr marL="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Songs Generate the Majority of Streams</a:t>
            </a:r>
          </a:p>
          <a:p>
            <a:pPr marL="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b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Top 10 songs contribute a significantly larger share of total streams compared to the remaining songs in the dataset. This indicates that listener attention is concentrated on a few highly successful tracks.</a:t>
            </a:r>
          </a:p>
          <a:p>
            <a:pPr marL="0" indent="0"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Decision:</a:t>
            </a:r>
            <a:b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Streaming platforms should prioritize these high-performing songs in playlists and recommendations while also promoting emerging songs to diversify listener engagement.</a:t>
            </a:r>
          </a:p>
          <a:p>
            <a:pPr marL="0" indent="0">
              <a:buNone/>
            </a:pPr>
            <a:endParaRPr lang="en-IN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songs have the highest popularity</a:t>
            </a:r>
          </a:p>
          <a:p>
            <a:pPr marL="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"Danza Kuduro - Cover"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popular track with a 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Spotify Popularity Total of 824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significantly outperforming all other songs. The top two cover songs (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Danza Kuduro - Cover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Cake By The Ocean - Cover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dominate the popularity rankings, indicating that cover versions can achieve substantial audience engagement. The remaining tracks have popularity scores ranging from 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213 to 277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a noticeable gap between the top two songs and the rest.</a:t>
            </a:r>
          </a:p>
          <a:p>
            <a:pPr marL="0" indent="0"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Decision:</a:t>
            </a:r>
            <a:b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teams should use Spotify Popularity to identify trending songs early and increase promotional efforts while audience interest is growing.</a:t>
            </a:r>
          </a:p>
          <a:p>
            <a:pPr marL="0" indent="0">
              <a:buNone/>
            </a:pPr>
            <a:b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3610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2AEB9-D277-0E2F-9D41-636E6287E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AD439-83F6-93EC-B788-4BA58C330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182881"/>
            <a:ext cx="7704667" cy="93268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Findings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8CBD6-904E-BD6B-4AA7-E4E46D64C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2" y="859536"/>
            <a:ext cx="7704667" cy="49286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Albums contain the most popular songs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albums—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Like Us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Million Dollar Baby - Single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Gata Only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Like The Way You Kiss Me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—share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average Spotify popularity score of 92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them the most popular albums in the dataset. Most of the top-performing albums have popularity scores between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87 and 92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consistently high audience engagement with only a small difference among the leading albums. The narrow popularity range suggests that several albums are performing competitively rather than one album dominating the rankings.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Decision: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the top-rated albums (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92 popularity score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playlist placements, promotions, and marketing campaigns to maximize listener engagement.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 companies should monitor social media trends and invest quickly in songs showing viral growth to maximize commercial opportunities.</a:t>
            </a:r>
          </a:p>
          <a:p>
            <a:pPr marL="0" indent="0">
              <a:buNone/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339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F794B-673A-9ADC-E76C-81B901E23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886D-D5AF-3C90-3F04-72D26B50C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182881"/>
            <a:ext cx="7704667" cy="93268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Findings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0AAA1-1E33-D9A0-54F2-1922CE325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886968"/>
            <a:ext cx="7704667" cy="557783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IN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Analysis – Major Insights</a:t>
            </a:r>
          </a:p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Platform has the highest audience reach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TikTok has the highest audience reach with 4.58 billion views, more than double the reach of Spotify. 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Spotify ranks second with 2.02 billion streams, followed by YouTube with 1.77 billion views, indicating these platforms remain major drivers of music consumption. 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Pandora (327.37 million) and SoundCloud (59.38 million) contribute a comparatively smaller share of the total audience reach.</a:t>
            </a:r>
          </a:p>
          <a:p>
            <a:pPr marL="0" indent="0">
              <a:buNone/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TikTok for music promotions, viral campaigns, and influencer collaborations to maximize audience reach.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 strong presence on Spotify and YouTube to sustain streaming performance and listener engagement.</a:t>
            </a:r>
          </a:p>
          <a:p>
            <a:pPr marL="0" indent="0">
              <a:buNone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Pandora and SoundCloud as supporting platforms for niche audiences rather than primary marketing channels.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814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5F7B7-2B5A-8D53-D0B5-48EECF5AB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539D3-9EA5-2922-75F7-C19325D45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182881"/>
            <a:ext cx="7704667" cy="93268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Findings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4C316-9F85-5799-DD22-DD30C9EE3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649224"/>
            <a:ext cx="7704667" cy="581558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Platform contributes the most to song popularity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accumulated 290,879 Spotify popularity points and generated an impressive 2.02 billion Spotify streams, indicating strong overall audience engagement.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 streaming volume suggests that Spotify is a major platform for music consumption across the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tracks.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popularity scores measure audience interest, the large number of streams reflects sustained listening behaviour. 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prioritizing Spotify as a key distribution and promotional platform due to its significant contribution to total streams.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2565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87354-D1CE-E09D-7473-CF5A6CA49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C74C9-5D34-3E82-1540-F528AC48D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182881"/>
            <a:ext cx="7704667" cy="93268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Findings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4F16E-09C9-8A69-F257-25224125B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115569"/>
            <a:ext cx="7704667" cy="455371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Spotify, YouTube and TikTok performance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Spotify records the highest streaming activity among all platforms, making it the dominant platform for music consumption in the dataset.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YouTube generates a large number of views and likes, showing that audiences prefer consuming music through video content as well as audio streaming.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Songs with higher TikTok posts and views often experience increased popularity across other streaming platforms, indicating TikTok's influence on music discovery.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Decision: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labels should adopt a multi-platform marketing strategy instead of relying on a single platform to maximize audience reach and reduce platform dependency.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98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4E170-CD51-2484-F7C8-856CF34F7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018EF-D4C4-867F-A714-CECB81F27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182881"/>
            <a:ext cx="7704667" cy="85039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Findings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FB5EA-D5B0-35E3-EE71-34C5D561F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033271"/>
            <a:ext cx="7704667" cy="537667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IN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 – Major Insights</a:t>
            </a:r>
          </a:p>
          <a:p>
            <a:pPr marL="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Music Streaming Has Increased Over Time</a:t>
            </a:r>
          </a:p>
          <a:p>
            <a:pPr marL="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shows an overall upward trend in music streams over the years, indicating continuous growth in digital music consumption.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 releases have increased significantly in recent years, with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being the most productive release year.</a:t>
            </a: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Decision: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labels should prioritize digital streaming platforms and allocate more resources to online music distribution, as consumer preference is shifting from traditional media to streaming services.</a:t>
            </a:r>
          </a:p>
          <a:p>
            <a:pPr marL="0" indent="0">
              <a:buNone/>
            </a:pP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Recent Releases Gain Faster Audience Attention</a:t>
            </a:r>
          </a:p>
          <a:p>
            <a:pPr marL="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Recently released songs achieve high streams and popularity within a shorter period due to digital marketing, playlist recommendations, and social media exposure.</a:t>
            </a:r>
          </a:p>
          <a:p>
            <a:pPr marL="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Decision:</a:t>
            </a:r>
            <a:b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campaigns should focus on the </a:t>
            </a: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few weeks after a song's release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 early promotion significantly influences long-term performance.</a:t>
            </a:r>
          </a:p>
          <a:p>
            <a:b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984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7AAB2-C2E1-A26E-B853-A21D19468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DFC20-F7DD-BD6C-2E0B-0186758EF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182881"/>
            <a:ext cx="7704667" cy="85039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Findings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A633A-CE5A-5A41-D115-77636DBD5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2" y="859536"/>
            <a:ext cx="7704667" cy="3273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Streaming Performance Fluctuates Across Time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trend shows noticeable peaks and declines rather than continuous growth, indicating that audience engagement changes based on new releases, seasonal demand, and viral trends.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Decision: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labels should schedule major releases during periods of higher listener activity and maintain regular promotional campaigns during low-engagement periods.</a:t>
            </a:r>
          </a:p>
          <a:p>
            <a:pPr>
              <a:buFont typeface="Arial" panose="020B0604020202020204" pitchFamily="34" charset="0"/>
              <a:buChar char="•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6776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9A08C-FEA3-EEC3-9DDF-5FAFF97C2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A19FB-AFEC-352E-E226-49EE0D753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182881"/>
            <a:ext cx="7704667" cy="85039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Findings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6B15E-EA13-A1FD-16F3-07BB6AF98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2" y="859535"/>
            <a:ext cx="7704667" cy="58155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Analysis – Major Insights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1.Spotify popularity and playlist presence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clear concentration of songs with Spotify popularity around 60–80. Songs with higher popularity generally appear in more playlists, suggesting that playlist inclusion is strongly associated with visibility and popularity.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highly playlisted songs are clear outliers and may represent major hits.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2.Spotify popularity vs. TikTok likes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relationship is not strongly linear. Some songs with relatively moderate Spotify popularity have extremely high TikTok engagement.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that TikTok virality does not necessarily depend on Spotify popularity.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TikTok can therefore be an important channel for discovering potential breakout songs.</a:t>
            </a:r>
          </a:p>
          <a:p>
            <a:pPr>
              <a:buFont typeface="Arial" panose="020B0604020202020204" pitchFamily="34" charset="0"/>
              <a:buChar char="•"/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550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88FD3-FEAC-942B-94BB-43F7DFEA0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865D5-12E7-AD33-0F7C-EEC552AEB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182881"/>
            <a:ext cx="7704667" cy="85039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Findings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FAFB4-BFC4-6082-91DD-A4FE650FC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2" y="859535"/>
            <a:ext cx="7704667" cy="43799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3.Spotify streams vs. YouTube views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YouTube accounts for approximately 53.29% (2.02T) of the combined views/streams shown.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Spotify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approximately 46.71% (1.77T).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relatively close split indicates that both platforms are important for music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consumption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reach.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songs based on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Spotify, TikTok, YouTube, and playlist performance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rather than relying on a single platform metric.</a:t>
            </a:r>
          </a:p>
          <a:p>
            <a:pPr>
              <a:buFont typeface="Arial" panose="020B0604020202020204" pitchFamily="34" charset="0"/>
              <a:buChar char="•"/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8558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690C2-5902-8F5F-3DDA-44E479880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32C0B-6985-0652-6425-A3E1CD6A1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02412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Key Insights &amp; Findings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3D79B-216F-2D04-EBE9-3C59C854A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033272"/>
            <a:ext cx="7704667" cy="4966544"/>
          </a:xfrm>
        </p:spPr>
        <p:txBody>
          <a:bodyPr>
            <a:normAutofit fontScale="85000" lnSpcReduction="10000"/>
          </a:bodyPr>
          <a:lstStyle/>
          <a:p>
            <a:pPr>
              <a:buFont typeface="Arial" panose="020B0604020202020204" pitchFamily="34" charset="0"/>
              <a:buChar char="•"/>
              <a:defRPr sz="2400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4,585 songs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2,065 unique artists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4,031 albums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dataset spans releases from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1987 to 2024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long-term trend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Kevin MacLeod, Bad Bunny, and Taylor Swift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among the top-streamed artists.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Taylor Swift, Drake, and Bad Bunny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 most frequently featured artists.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small number of songs account for the highest Spotify streams, indicating a skewed distribution.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Albums with top-performing tracks consistently achieve higher Spotify popularity.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Spotify and TikTok contribute the largest share of audience reach.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releases generally show stronger streaming performance than older releases.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Spotify streams tend to align with higher YouTube views, suggesting positive cross-platform engagement.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Playlist exposure appears to support higher song popularity and discoverability.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1763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161287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1549" y="1618488"/>
            <a:ext cx="7704667" cy="337548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  <a:defRPr sz="24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promotions on Spotify and TikTok.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playlist placements to improve song visibility.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collaborations with top-performing artists.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cross-platform performance to optimize marketing strategies.</a:t>
            </a:r>
          </a:p>
          <a:p>
            <a:pPr>
              <a:buFont typeface="Arial" panose="020B0604020202020204" pitchFamily="34" charset="0"/>
              <a:buChar char="•"/>
              <a:defRPr sz="24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promotional campaigns on newly released songs to maximize audience engagement.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1" y="685800"/>
            <a:ext cx="7704667" cy="2624329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rgbClr val="FF0000"/>
                </a:solidFill>
              </a:rPr>
              <a:t>Thank You</a:t>
            </a:r>
            <a:r>
              <a:rPr lang="en-IN" dirty="0">
                <a:solidFill>
                  <a:srgbClr val="FF0000"/>
                </a:solidFill>
              </a:rPr>
              <a:t>!</a:t>
            </a:r>
            <a:br>
              <a:rPr lang="en-IN" dirty="0">
                <a:solidFill>
                  <a:srgbClr val="FF0000"/>
                </a:solidFill>
              </a:rPr>
            </a:br>
            <a:br>
              <a:rPr lang="en-IN" dirty="0">
                <a:solidFill>
                  <a:srgbClr val="FF0000"/>
                </a:solidFill>
              </a:rPr>
            </a:br>
            <a:br>
              <a:rPr lang="en-IN" dirty="0">
                <a:solidFill>
                  <a:srgbClr val="FF0000"/>
                </a:solidFill>
              </a:rPr>
            </a:br>
            <a:r>
              <a:rPr lang="en-IN" dirty="0">
                <a:solidFill>
                  <a:srgbClr val="FF0000"/>
                </a:solidFill>
              </a:rPr>
              <a:t>Thank you for your time and attention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3088472"/>
            <a:ext cx="7704667" cy="880024"/>
          </a:xfrm>
        </p:spPr>
        <p:txBody>
          <a:bodyPr/>
          <a:lstStyle/>
          <a:p>
            <a:pPr marL="0" indent="0" algn="ctr">
              <a:buNone/>
              <a:defRPr sz="2400"/>
            </a:pPr>
            <a:r>
              <a:rPr lang="en-IN" dirty="0">
                <a:solidFill>
                  <a:srgbClr val="FF0000"/>
                </a:solidFill>
              </a:rPr>
              <a:t>Questions &amp; Answers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3390</TotalTime>
  <Words>2373</Words>
  <Application>Microsoft Office PowerPoint</Application>
  <PresentationFormat>On-screen Show (4:3)</PresentationFormat>
  <Paragraphs>196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Corbel</vt:lpstr>
      <vt:lpstr>Times New Roman</vt:lpstr>
      <vt:lpstr>Parallax</vt:lpstr>
      <vt:lpstr>AI DRIVEN DATA ANALYTICS</vt:lpstr>
      <vt:lpstr>TEAM MEMBERS</vt:lpstr>
      <vt:lpstr>Agenda</vt:lpstr>
      <vt:lpstr>Project Overview &amp; Objectives</vt:lpstr>
      <vt:lpstr>Problem Statement</vt:lpstr>
      <vt:lpstr>Dataset Overview</vt:lpstr>
      <vt:lpstr>Data Cleaning &amp; Pre-processing</vt:lpstr>
      <vt:lpstr>Data Cleaning &amp; Pre-processing</vt:lpstr>
      <vt:lpstr>Tools Used</vt:lpstr>
      <vt:lpstr>KPI’s</vt:lpstr>
      <vt:lpstr>Dashboard Demonstration</vt:lpstr>
      <vt:lpstr>Dashboard Demonstration</vt:lpstr>
      <vt:lpstr>Dashboard Demonstration</vt:lpstr>
      <vt:lpstr>Key Insights &amp; Findings </vt:lpstr>
      <vt:lpstr>Key Insights &amp; Findings </vt:lpstr>
      <vt:lpstr>Key Insights &amp; Findings </vt:lpstr>
      <vt:lpstr>Key Insights &amp; Findings </vt:lpstr>
      <vt:lpstr>Key Insights &amp; Findings </vt:lpstr>
      <vt:lpstr>Key Insights &amp; Findings </vt:lpstr>
      <vt:lpstr>Key Insights &amp; Findings </vt:lpstr>
      <vt:lpstr>Key Insights &amp; Findings </vt:lpstr>
      <vt:lpstr>Key Insights &amp; Findings </vt:lpstr>
      <vt:lpstr>Key Insights &amp; Findings </vt:lpstr>
      <vt:lpstr>Key Insights &amp; Findings </vt:lpstr>
      <vt:lpstr>Overall Key Insights &amp; Findings </vt:lpstr>
      <vt:lpstr>Conclusion</vt:lpstr>
      <vt:lpstr>Thank You!   Thank you for your time and attention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Ramya</dc:creator>
  <cp:keywords/>
  <dc:description>generated using python-pptx</dc:description>
  <cp:lastModifiedBy>inspirer2545@outlook.com</cp:lastModifiedBy>
  <cp:revision>171</cp:revision>
  <dcterms:created xsi:type="dcterms:W3CDTF">2013-01-27T09:14:16Z</dcterms:created>
  <dcterms:modified xsi:type="dcterms:W3CDTF">2026-08-12T15:10:22Z</dcterms:modified>
  <cp:category/>
</cp:coreProperties>
</file>