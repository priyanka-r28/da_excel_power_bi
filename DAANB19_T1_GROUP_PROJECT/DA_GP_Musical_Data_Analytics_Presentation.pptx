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145" r:id="rId1"/>
  </p:sldMasterIdLst>
  <p:sldIdLst>
    <p:sldId id="256" r:id="rId2"/>
    <p:sldId id="257" r:id="rId3"/>
    <p:sldId id="266" r:id="rId4"/>
    <p:sldId id="258" r:id="rId5"/>
    <p:sldId id="267" r:id="rId6"/>
    <p:sldId id="259" r:id="rId7"/>
    <p:sldId id="260" r:id="rId8"/>
    <p:sldId id="268" r:id="rId9"/>
    <p:sldId id="269" r:id="rId10"/>
    <p:sldId id="261" r:id="rId11"/>
    <p:sldId id="262" r:id="rId12"/>
    <p:sldId id="270" r:id="rId13"/>
    <p:sldId id="271" r:id="rId14"/>
    <p:sldId id="263" r:id="rId15"/>
    <p:sldId id="264" r:id="rId16"/>
    <p:sldId id="265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118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/>
          <p:cNvGrpSpPr/>
          <p:nvPr/>
        </p:nvGrpSpPr>
        <p:grpSpPr>
          <a:xfrm>
            <a:off x="203200" y="0"/>
            <a:ext cx="3778250" cy="6858001"/>
            <a:chOff x="203200" y="0"/>
            <a:chExt cx="3778250" cy="6858001"/>
          </a:xfrm>
        </p:grpSpPr>
        <p:sp>
          <p:nvSpPr>
            <p:cNvPr id="14" name="Freeform 6"/>
            <p:cNvSpPr/>
            <p:nvPr/>
          </p:nvSpPr>
          <p:spPr bwMode="auto">
            <a:xfrm>
              <a:off x="641350" y="0"/>
              <a:ext cx="1365250" cy="3971925"/>
            </a:xfrm>
            <a:custGeom>
              <a:avLst/>
              <a:gdLst/>
              <a:ahLst/>
              <a:cxnLst/>
              <a:rect l="0" t="0" r="r" b="b"/>
              <a:pathLst>
                <a:path w="860" h="2502">
                  <a:moveTo>
                    <a:pt x="0" y="2445"/>
                  </a:moveTo>
                  <a:lnTo>
                    <a:pt x="228" y="2502"/>
                  </a:lnTo>
                  <a:lnTo>
                    <a:pt x="860" y="0"/>
                  </a:lnTo>
                  <a:lnTo>
                    <a:pt x="620" y="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7"/>
            <p:cNvSpPr/>
            <p:nvPr/>
          </p:nvSpPr>
          <p:spPr bwMode="auto">
            <a:xfrm>
              <a:off x="203200" y="0"/>
              <a:ext cx="1336675" cy="3862388"/>
            </a:xfrm>
            <a:custGeom>
              <a:avLst/>
              <a:gdLst/>
              <a:ahLst/>
              <a:cxnLst/>
              <a:rect l="0" t="0" r="r" b="b"/>
              <a:pathLst>
                <a:path w="842" h="2433">
                  <a:moveTo>
                    <a:pt x="842" y="0"/>
                  </a:moveTo>
                  <a:lnTo>
                    <a:pt x="602" y="0"/>
                  </a:lnTo>
                  <a:lnTo>
                    <a:pt x="0" y="2376"/>
                  </a:lnTo>
                  <a:lnTo>
                    <a:pt x="228" y="2433"/>
                  </a:lnTo>
                  <a:lnTo>
                    <a:pt x="842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Freeform 8"/>
            <p:cNvSpPr/>
            <p:nvPr/>
          </p:nvSpPr>
          <p:spPr bwMode="auto">
            <a:xfrm>
              <a:off x="207963" y="3776663"/>
              <a:ext cx="1936750" cy="3081338"/>
            </a:xfrm>
            <a:custGeom>
              <a:avLst/>
              <a:gdLst/>
              <a:ahLst/>
              <a:cxnLst/>
              <a:rect l="0" t="0" r="r" b="b"/>
              <a:pathLst>
                <a:path w="1220" h="1941">
                  <a:moveTo>
                    <a:pt x="0" y="0"/>
                  </a:moveTo>
                  <a:lnTo>
                    <a:pt x="1166" y="1941"/>
                  </a:lnTo>
                  <a:lnTo>
                    <a:pt x="1220" y="19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Freeform 9"/>
            <p:cNvSpPr/>
            <p:nvPr/>
          </p:nvSpPr>
          <p:spPr bwMode="auto">
            <a:xfrm>
              <a:off x="646113" y="3886200"/>
              <a:ext cx="2373313" cy="2971800"/>
            </a:xfrm>
            <a:custGeom>
              <a:avLst/>
              <a:gdLst/>
              <a:ahLst/>
              <a:cxnLst/>
              <a:rect l="0" t="0" r="r" b="b"/>
              <a:pathLst>
                <a:path w="1495" h="1872">
                  <a:moveTo>
                    <a:pt x="1495" y="1872"/>
                  </a:moveTo>
                  <a:lnTo>
                    <a:pt x="0" y="0"/>
                  </a:lnTo>
                  <a:lnTo>
                    <a:pt x="1442" y="1872"/>
                  </a:lnTo>
                  <a:lnTo>
                    <a:pt x="1495" y="1872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Freeform 10"/>
            <p:cNvSpPr/>
            <p:nvPr/>
          </p:nvSpPr>
          <p:spPr bwMode="auto">
            <a:xfrm>
              <a:off x="641350" y="3881438"/>
              <a:ext cx="3340100" cy="2976563"/>
            </a:xfrm>
            <a:custGeom>
              <a:avLst/>
              <a:gdLst/>
              <a:ahLst/>
              <a:cxnLst/>
              <a:rect l="0" t="0" r="r" b="b"/>
              <a:pathLst>
                <a:path w="2104" h="1875">
                  <a:moveTo>
                    <a:pt x="0" y="0"/>
                  </a:moveTo>
                  <a:lnTo>
                    <a:pt x="3" y="3"/>
                  </a:lnTo>
                  <a:lnTo>
                    <a:pt x="1498" y="1875"/>
                  </a:lnTo>
                  <a:lnTo>
                    <a:pt x="2104" y="1875"/>
                  </a:lnTo>
                  <a:lnTo>
                    <a:pt x="228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Freeform 11"/>
            <p:cNvSpPr/>
            <p:nvPr/>
          </p:nvSpPr>
          <p:spPr bwMode="auto">
            <a:xfrm>
              <a:off x="203200" y="3771900"/>
              <a:ext cx="2660650" cy="3086100"/>
            </a:xfrm>
            <a:custGeom>
              <a:avLst/>
              <a:gdLst/>
              <a:ahLst/>
              <a:cxnLst/>
              <a:rect l="0" t="0" r="r" b="b"/>
              <a:pathLst>
                <a:path w="1676" h="1944">
                  <a:moveTo>
                    <a:pt x="1676" y="1944"/>
                  </a:moveTo>
                  <a:lnTo>
                    <a:pt x="264" y="111"/>
                  </a:lnTo>
                  <a:lnTo>
                    <a:pt x="225" y="60"/>
                  </a:lnTo>
                  <a:lnTo>
                    <a:pt x="228" y="60"/>
                  </a:lnTo>
                  <a:lnTo>
                    <a:pt x="264" y="111"/>
                  </a:lnTo>
                  <a:lnTo>
                    <a:pt x="234" y="69"/>
                  </a:lnTo>
                  <a:lnTo>
                    <a:pt x="228" y="57"/>
                  </a:lnTo>
                  <a:lnTo>
                    <a:pt x="222" y="54"/>
                  </a:lnTo>
                  <a:lnTo>
                    <a:pt x="0" y="0"/>
                  </a:lnTo>
                  <a:lnTo>
                    <a:pt x="3" y="3"/>
                  </a:lnTo>
                  <a:lnTo>
                    <a:pt x="1223" y="1944"/>
                  </a:lnTo>
                  <a:lnTo>
                    <a:pt x="1676" y="1944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39673" y="914401"/>
            <a:ext cx="6947127" cy="3488266"/>
          </a:xfrm>
        </p:spPr>
        <p:txBody>
          <a:bodyPr anchor="b">
            <a:normAutofit/>
          </a:bodyPr>
          <a:lstStyle>
            <a:lvl1pPr algn="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238" y="4402666"/>
            <a:ext cx="5762563" cy="1364531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25773" y="6117336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23733" y="6117336"/>
            <a:ext cx="360943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5320" y="6117336"/>
            <a:ext cx="41148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3" name="Freeform 12"/>
          <p:cNvSpPr/>
          <p:nvPr/>
        </p:nvSpPr>
        <p:spPr bwMode="auto">
          <a:xfrm>
            <a:off x="203200" y="3771900"/>
            <a:ext cx="361950" cy="90488"/>
          </a:xfrm>
          <a:custGeom>
            <a:avLst/>
            <a:gdLst/>
            <a:ahLst/>
            <a:cxnLst/>
            <a:rect l="0" t="0" r="r" b="b"/>
            <a:pathLst>
              <a:path w="228" h="57">
                <a:moveTo>
                  <a:pt x="228" y="57"/>
                </a:moveTo>
                <a:lnTo>
                  <a:pt x="0" y="0"/>
                </a:lnTo>
                <a:lnTo>
                  <a:pt x="222" y="54"/>
                </a:lnTo>
                <a:lnTo>
                  <a:pt x="228" y="57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IN"/>
          </a:p>
        </p:txBody>
      </p:sp>
      <p:sp>
        <p:nvSpPr>
          <p:cNvPr id="24" name="Freeform 13"/>
          <p:cNvSpPr/>
          <p:nvPr/>
        </p:nvSpPr>
        <p:spPr bwMode="auto">
          <a:xfrm>
            <a:off x="560388" y="3867150"/>
            <a:ext cx="61913" cy="80963"/>
          </a:xfrm>
          <a:custGeom>
            <a:avLst/>
            <a:gdLst/>
            <a:ahLst/>
            <a:cxnLst/>
            <a:rect l="0" t="0" r="r" b="b"/>
            <a:pathLst>
              <a:path w="39" h="51">
                <a:moveTo>
                  <a:pt x="0" y="0"/>
                </a:moveTo>
                <a:lnTo>
                  <a:pt x="39" y="51"/>
                </a:lnTo>
                <a:lnTo>
                  <a:pt x="3" y="0"/>
                </a:lnTo>
                <a:lnTo>
                  <a:pt x="0" y="0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35095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667000"/>
            <a:ext cx="7704667" cy="333281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44329" y="6108173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72647" y="6108173"/>
            <a:ext cx="531451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58967" y="6108173"/>
            <a:ext cx="42783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225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6995" y="2666998"/>
            <a:ext cx="6699805" cy="2360071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6998" y="5027070"/>
            <a:ext cx="6699802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3317" y="6116070"/>
            <a:ext cx="41348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638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685801"/>
            <a:ext cx="7704667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2133" y="2667000"/>
            <a:ext cx="3739896" cy="336867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46904" y="2667000"/>
            <a:ext cx="3739896" cy="334682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7175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29481" y="2658533"/>
            <a:ext cx="345629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3523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61710" y="2667000"/>
            <a:ext cx="3467806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57266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655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825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551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1600200"/>
            <a:ext cx="2662534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7553" y="685800"/>
            <a:ext cx="4681962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4" y="2971800"/>
            <a:ext cx="2662534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990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2332" y="1752599"/>
            <a:ext cx="4070679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97495" y="914400"/>
            <a:ext cx="2461371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2332" y="3124199"/>
            <a:ext cx="4070679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4518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3" y="4732865"/>
            <a:ext cx="751599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89975" y="932112"/>
            <a:ext cx="6171065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3" y="5299603"/>
            <a:ext cx="751599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573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685800"/>
            <a:ext cx="751599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1401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598235" y="3428999"/>
            <a:ext cx="6631128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3" y="4343400"/>
            <a:ext cx="751599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9013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3308581"/>
            <a:ext cx="751598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7381"/>
            <a:ext cx="751599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8141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5" y="3886200"/>
            <a:ext cx="751599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5200"/>
            <a:ext cx="751599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7342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685801"/>
            <a:ext cx="7515991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4" y="3505200"/>
            <a:ext cx="7515992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534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3676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01393" y="685800"/>
            <a:ext cx="1328123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524" y="685800"/>
            <a:ext cx="6016373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964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0" y="0"/>
            <a:ext cx="2132013" cy="6858001"/>
            <a:chOff x="0" y="0"/>
            <a:chExt cx="2132013" cy="6858001"/>
          </a:xfrm>
        </p:grpSpPr>
        <p:sp>
          <p:nvSpPr>
            <p:cNvPr id="15" name="Freeform 6"/>
            <p:cNvSpPr/>
            <p:nvPr/>
          </p:nvSpPr>
          <p:spPr bwMode="auto">
            <a:xfrm>
              <a:off x="0" y="0"/>
              <a:ext cx="1073150" cy="5291138"/>
            </a:xfrm>
            <a:custGeom>
              <a:avLst/>
              <a:gdLst/>
              <a:ahLst/>
              <a:cxnLst/>
              <a:rect l="0" t="0" r="r" b="b"/>
              <a:pathLst>
                <a:path w="676" h="3333">
                  <a:moveTo>
                    <a:pt x="0" y="3132"/>
                  </a:moveTo>
                  <a:lnTo>
                    <a:pt x="0" y="3312"/>
                  </a:lnTo>
                  <a:lnTo>
                    <a:pt x="126" y="3333"/>
                  </a:lnTo>
                  <a:lnTo>
                    <a:pt x="676" y="0"/>
                  </a:lnTo>
                  <a:lnTo>
                    <a:pt x="514" y="0"/>
                  </a:lnTo>
                  <a:lnTo>
                    <a:pt x="0" y="313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Freeform 7"/>
            <p:cNvSpPr/>
            <p:nvPr/>
          </p:nvSpPr>
          <p:spPr bwMode="auto">
            <a:xfrm>
              <a:off x="0" y="0"/>
              <a:ext cx="758825" cy="4624388"/>
            </a:xfrm>
            <a:custGeom>
              <a:avLst/>
              <a:gdLst/>
              <a:ahLst/>
              <a:cxnLst/>
              <a:rect l="0" t="0" r="r" b="b"/>
              <a:pathLst>
                <a:path w="478" h="2913">
                  <a:moveTo>
                    <a:pt x="478" y="0"/>
                  </a:moveTo>
                  <a:lnTo>
                    <a:pt x="318" y="0"/>
                  </a:lnTo>
                  <a:lnTo>
                    <a:pt x="0" y="1938"/>
                  </a:lnTo>
                  <a:lnTo>
                    <a:pt x="0" y="2913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Freeform 8"/>
            <p:cNvSpPr/>
            <p:nvPr/>
          </p:nvSpPr>
          <p:spPr bwMode="auto">
            <a:xfrm>
              <a:off x="0" y="5662613"/>
              <a:ext cx="906463" cy="1195388"/>
            </a:xfrm>
            <a:custGeom>
              <a:avLst/>
              <a:gdLst/>
              <a:ahLst/>
              <a:cxnLst/>
              <a:rect l="0" t="0" r="r" b="b"/>
              <a:pathLst>
                <a:path w="571" h="753">
                  <a:moveTo>
                    <a:pt x="0" y="0"/>
                  </a:moveTo>
                  <a:lnTo>
                    <a:pt x="0" y="12"/>
                  </a:lnTo>
                  <a:lnTo>
                    <a:pt x="538" y="753"/>
                  </a:lnTo>
                  <a:lnTo>
                    <a:pt x="571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Freeform 9"/>
            <p:cNvSpPr/>
            <p:nvPr/>
          </p:nvSpPr>
          <p:spPr bwMode="auto">
            <a:xfrm>
              <a:off x="0" y="5295900"/>
              <a:ext cx="1487488" cy="1562100"/>
            </a:xfrm>
            <a:custGeom>
              <a:avLst/>
              <a:gdLst/>
              <a:ahLst/>
              <a:cxnLst/>
              <a:rect l="0" t="0" r="r" b="b"/>
              <a:pathLst>
                <a:path w="937" h="984">
                  <a:moveTo>
                    <a:pt x="0" y="0"/>
                  </a:moveTo>
                  <a:lnTo>
                    <a:pt x="0" y="3"/>
                  </a:lnTo>
                  <a:lnTo>
                    <a:pt x="901" y="984"/>
                  </a:lnTo>
                  <a:lnTo>
                    <a:pt x="937" y="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Freeform 10"/>
            <p:cNvSpPr/>
            <p:nvPr/>
          </p:nvSpPr>
          <p:spPr bwMode="auto">
            <a:xfrm>
              <a:off x="0" y="5257800"/>
              <a:ext cx="2132013" cy="1600200"/>
            </a:xfrm>
            <a:custGeom>
              <a:avLst/>
              <a:gdLst/>
              <a:ahLst/>
              <a:cxnLst/>
              <a:rect l="0" t="0" r="r" b="b"/>
              <a:pathLst>
                <a:path w="1343" h="1008">
                  <a:moveTo>
                    <a:pt x="0" y="24"/>
                  </a:moveTo>
                  <a:lnTo>
                    <a:pt x="937" y="1008"/>
                  </a:lnTo>
                  <a:lnTo>
                    <a:pt x="1343" y="1008"/>
                  </a:lnTo>
                  <a:lnTo>
                    <a:pt x="126" y="21"/>
                  </a:lnTo>
                  <a:lnTo>
                    <a:pt x="0" y="0"/>
                  </a:lnTo>
                  <a:lnTo>
                    <a:pt x="0" y="24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Freeform 11"/>
            <p:cNvSpPr/>
            <p:nvPr/>
          </p:nvSpPr>
          <p:spPr bwMode="auto">
            <a:xfrm>
              <a:off x="0" y="5357813"/>
              <a:ext cx="1377950" cy="1500188"/>
            </a:xfrm>
            <a:custGeom>
              <a:avLst/>
              <a:gdLst/>
              <a:ahLst/>
              <a:cxnLst/>
              <a:rect l="0" t="0" r="r" b="b"/>
              <a:pathLst>
                <a:path w="868" h="945">
                  <a:moveTo>
                    <a:pt x="0" y="192"/>
                  </a:moveTo>
                  <a:lnTo>
                    <a:pt x="571" y="945"/>
                  </a:lnTo>
                  <a:lnTo>
                    <a:pt x="868" y="945"/>
                  </a:lnTo>
                  <a:lnTo>
                    <a:pt x="0" y="0"/>
                  </a:lnTo>
                  <a:lnTo>
                    <a:pt x="0" y="192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134" y="2667000"/>
            <a:ext cx="7704666" cy="33569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8679" y="6116070"/>
            <a:ext cx="8574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86997" y="6116070"/>
            <a:ext cx="5314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73317" y="6116070"/>
            <a:ext cx="4134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1623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46" r:id="rId1"/>
    <p:sldLayoutId id="2147484147" r:id="rId2"/>
    <p:sldLayoutId id="2147484148" r:id="rId3"/>
    <p:sldLayoutId id="2147484149" r:id="rId4"/>
    <p:sldLayoutId id="2147484150" r:id="rId5"/>
    <p:sldLayoutId id="2147484151" r:id="rId6"/>
    <p:sldLayoutId id="2147484152" r:id="rId7"/>
    <p:sldLayoutId id="2147484153" r:id="rId8"/>
    <p:sldLayoutId id="2147484154" r:id="rId9"/>
    <p:sldLayoutId id="2147484155" r:id="rId10"/>
    <p:sldLayoutId id="2147484156" r:id="rId11"/>
    <p:sldLayoutId id="2147484157" r:id="rId12"/>
    <p:sldLayoutId id="2147484158" r:id="rId13"/>
    <p:sldLayoutId id="2147484159" r:id="rId14"/>
    <p:sldLayoutId id="2147484160" r:id="rId15"/>
    <p:sldLayoutId id="2147484161" r:id="rId16"/>
    <p:sldLayoutId id="2147484162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90472" y="941834"/>
            <a:ext cx="7397496" cy="1609343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DRIVEN DATA ANALYTICS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6B9092-1D9C-76D3-1909-985A580643EB}"/>
              </a:ext>
            </a:extLst>
          </p:cNvPr>
          <p:cNvSpPr txBox="1"/>
          <p:nvPr/>
        </p:nvSpPr>
        <p:spPr>
          <a:xfrm>
            <a:off x="1709928" y="2730485"/>
            <a:ext cx="6940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MUSIC PERFORMANCE &amp; STREAMING ANALYTICS</a:t>
            </a:r>
            <a:endParaRPr lang="en-IN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234565E-1AC3-027F-10AD-BF678168AC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3967977"/>
              </p:ext>
            </p:extLst>
          </p:nvPr>
        </p:nvGraphicFramePr>
        <p:xfrm>
          <a:off x="5294376" y="4306824"/>
          <a:ext cx="3779520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138036071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38451774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Team                    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T1_ANB19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27914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Organization       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Entri Elevate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966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Batch                    :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FNANB19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542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Mentor                 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Kumaran 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7593340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627631"/>
          </a:xfrm>
        </p:spPr>
        <p:txBody>
          <a:bodyPr/>
          <a:lstStyle/>
          <a:p>
            <a:r>
              <a:rPr lang="en-I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 MEMBERS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8981" y="1953768"/>
            <a:ext cx="7704667" cy="3332816"/>
          </a:xfrm>
        </p:spPr>
        <p:txBody>
          <a:bodyPr>
            <a:normAutofit/>
          </a:bodyPr>
          <a:lstStyle/>
          <a:p>
            <a:pPr>
              <a:defRPr sz="2400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Priyanka R – Team Lead</a:t>
            </a:r>
          </a:p>
          <a:p>
            <a:pPr>
              <a:defRPr sz="2400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Mohammed Fasi S – Data Preparation Analyst</a:t>
            </a:r>
          </a:p>
          <a:p>
            <a:pPr>
              <a:defRPr sz="2400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Nithish S - Data Analyst</a:t>
            </a:r>
          </a:p>
          <a:p>
            <a:pPr>
              <a:defRPr sz="2400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Jagadishwaran R - Dashboard Developer</a:t>
            </a:r>
          </a:p>
          <a:p>
            <a:pPr>
              <a:defRPr sz="2400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Ramya M - Data Storyteller</a:t>
            </a:r>
            <a:endParaRPr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4D56C-7BE1-FD46-8766-8E3585B0F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BDFE4-C29B-8C53-187C-B65A05DB1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5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41F50-F5B0-0D63-C244-4D0481469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2133" y="2185416"/>
            <a:ext cx="7704667" cy="3814400"/>
          </a:xfrm>
        </p:spPr>
        <p:txBody>
          <a:bodyPr>
            <a:normAutofit fontScale="85000" lnSpcReduction="20000"/>
          </a:bodyPr>
          <a:lstStyle/>
          <a:p>
            <a:pPr>
              <a:buFont typeface="Arial" panose="020B0604020202020204" pitchFamily="34" charset="0"/>
              <a:buChar char="•"/>
              <a:defRPr sz="2400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 &amp; Objectives</a:t>
            </a:r>
          </a:p>
          <a:p>
            <a:pPr>
              <a:buFont typeface="Arial" panose="020B0604020202020204" pitchFamily="34" charset="0"/>
              <a:buChar char="•"/>
              <a:defRPr sz="2400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>
              <a:buFont typeface="Arial" panose="020B0604020202020204" pitchFamily="34" charset="0"/>
              <a:buChar char="•"/>
              <a:defRPr sz="2400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</a:p>
          <a:p>
            <a:pPr>
              <a:buFont typeface="Arial" panose="020B0604020202020204" pitchFamily="34" charset="0"/>
              <a:buChar char="•"/>
              <a:defRPr sz="2400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&amp; Preprocessing</a:t>
            </a:r>
          </a:p>
          <a:p>
            <a:pPr>
              <a:buFont typeface="Arial" panose="020B0604020202020204" pitchFamily="34" charset="0"/>
              <a:buChar char="•"/>
              <a:defRPr sz="2400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Used</a:t>
            </a:r>
          </a:p>
          <a:p>
            <a:pPr>
              <a:buFont typeface="Arial" panose="020B0604020202020204" pitchFamily="34" charset="0"/>
              <a:buChar char="•"/>
              <a:defRPr sz="2400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KPI’s</a:t>
            </a:r>
          </a:p>
          <a:p>
            <a:pPr>
              <a:buFont typeface="Arial" panose="020B0604020202020204" pitchFamily="34" charset="0"/>
              <a:buChar char="•"/>
              <a:defRPr sz="2400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Demonstration</a:t>
            </a:r>
          </a:p>
          <a:p>
            <a:pPr>
              <a:buFont typeface="Arial" panose="020B0604020202020204" pitchFamily="34" charset="0"/>
              <a:buChar char="•"/>
              <a:defRPr sz="2400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Insights &amp; Findings</a:t>
            </a:r>
          </a:p>
          <a:p>
            <a:pPr>
              <a:buFont typeface="Arial" panose="020B0604020202020204" pitchFamily="34" charset="0"/>
              <a:buChar char="•"/>
              <a:defRPr sz="2400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>
              <a:buFont typeface="Arial" panose="020B0604020202020204" pitchFamily="34" charset="0"/>
              <a:buChar char="•"/>
              <a:defRPr sz="2400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 &amp; Answers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0154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/>
            </a:pPr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1938528"/>
            <a:ext cx="7704667" cy="4061288"/>
          </a:xfrm>
        </p:spPr>
        <p:txBody>
          <a:bodyPr>
            <a:norm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Music Performance &amp; Streaming Analytics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project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global music streaming dataset to understand the factors influencing song popularity and audience engagement across multiple digital platforms.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includes information on songs, artists, albums, release dates, streaming counts, playlist reach, and engagement metrics from platforms such as Spotify, YouTube, TikTok, Apple Music, Deezer, Amazon Music,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AirPlay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SiriusXM.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Excel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data cleaning and exploratory data analysis and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BI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interactive dashboard development, this project transforms raw data into meaningful insights that support data-driven decision-making.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C1F5D-B20B-E326-29CC-7DAE3C523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C4428-B001-9464-6387-0CD01BC14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170431"/>
          </a:xfrm>
        </p:spPr>
        <p:txBody>
          <a:bodyPr>
            <a:normAutofit/>
          </a:bodyPr>
          <a:lstStyle/>
          <a:p>
            <a:pPr>
              <a:defRPr sz="2400"/>
            </a:pPr>
            <a:r>
              <a:rPr lang="en-US" sz="2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586E97-1917-3F61-93CF-4719DD1FA9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2133" y="1801368"/>
            <a:ext cx="7704667" cy="4198448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 and preprocess the music streaming dataset by handling missing values, duplicates, inconsistent formats, and unwanted characters.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 the performance of songs, artists, and albums using key streaming and popularity metrics.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audience engagement across multiple music streaming platforms.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trends in song popularity based on release year and playlist inclusion.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Explore relationships between Spotify streams, YouTube views, TikTok engagement, and playlist reach.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interactive Power BI dashboard to visualize key performance indicators (KPIs) and business insights.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actionable insights to understand the key factors contributing to a song's success.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32053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566929"/>
            <a:ext cx="7704667" cy="1325879"/>
          </a:xfrm>
        </p:spPr>
        <p:txBody>
          <a:bodyPr/>
          <a:lstStyle/>
          <a:p>
            <a:r>
              <a:rPr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1892808"/>
            <a:ext cx="7704667" cy="4107008"/>
          </a:xfrm>
        </p:spPr>
        <p:txBody>
          <a:bodyPr>
            <a:normAutofit/>
          </a:bodyPr>
          <a:lstStyle/>
          <a:p>
            <a:pPr marL="0" indent="0">
              <a:buNone/>
              <a:defRPr sz="2400"/>
            </a:pPr>
            <a:endParaRPr lang="en-US" dirty="0"/>
          </a:p>
          <a:p>
            <a:pPr>
              <a:defRPr sz="2400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Music Performance 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  <a:p>
            <a:pPr>
              <a:defRPr sz="2400"/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Rows: 4,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600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2400"/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Fields: Artist, Track, Streams, Release </a:t>
            </a:r>
            <a:r>
              <a:rPr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Date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,ISRC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,All time Rank, Track score ,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spodify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streams ,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spodify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playlist count ,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spodify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play list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reach,spodify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popularity,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youtube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views ,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youtube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likes ,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tiktok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post ,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tiktok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likes ,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tiktok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views , YouTube Playlist Reach , Apple Music Playlist Count ,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AirPlay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Spins , SiriusXM Spins , Deezer Playlist Count , Deezer Playlist Reach , Amazon Playlist Count , Pandora Streams , Pandora Track Stations , Soundcloud Streams , Shazam Counts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142999"/>
          </a:xfrm>
        </p:spPr>
        <p:txBody>
          <a:bodyPr/>
          <a:lstStyle/>
          <a:p>
            <a:r>
              <a:rPr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Cleaning</a:t>
            </a:r>
            <a:r>
              <a:rPr lang="en-I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Pre-processing</a:t>
            </a:r>
            <a:endParaRPr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1600200"/>
            <a:ext cx="7704667" cy="4399616"/>
          </a:xfrm>
        </p:spPr>
        <p:txBody>
          <a:bodyPr>
            <a:normAutofit fontScale="85000" lnSpcReduction="20000"/>
          </a:bodyPr>
          <a:lstStyle/>
          <a:p>
            <a:pPr>
              <a:defRPr sz="24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Corrected inconsistent text values (track names, album names, artist names).</a:t>
            </a:r>
          </a:p>
          <a:p>
            <a:pPr marL="0" indent="0">
              <a:buNone/>
              <a:defRPr sz="24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Formula: </a:t>
            </a: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=PROPER(TRIM(CLEAN([@[Album Name]])))</a:t>
            </a:r>
          </a:p>
          <a:p>
            <a:pPr marL="0" indent="0">
              <a:buNone/>
              <a:defRPr sz="2400"/>
            </a:pP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=PROPER(TRIM(CLEAN([@Artist])))</a:t>
            </a:r>
          </a:p>
          <a:p>
            <a:pPr>
              <a:defRPr sz="2400"/>
            </a:pPr>
            <a:r>
              <a:rPr lang="en-IN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Removed records where song details could not be identified using the ISRC code.</a:t>
            </a:r>
          </a:p>
          <a:p>
            <a:pPr>
              <a:defRPr sz="24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Removed unwanted/special characters from text fields. Trimmed extra spaces and cleaned non-printable characters.</a:t>
            </a:r>
          </a:p>
          <a:p>
            <a:pPr marL="0" indent="0">
              <a:buNone/>
              <a:defRPr sz="2400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Formula:         	</a:t>
            </a: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=TRIM(SUBSTITUTE(SUBSTITUTE(SUBSTITUTE(SUBSTITUTE(SUBSTIT	UTE(B160,“	ï¿½",""),"Ï¿½",""),"ï",""),"¿",""),"?",""))</a:t>
            </a:r>
            <a:endParaRPr lang="en-IN" sz="2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240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Handled missing values using appropriate techniques (Median/Mean where applicable).</a:t>
            </a:r>
          </a:p>
          <a:p>
            <a:pPr marL="0" indent="0">
              <a:buNone/>
              <a:defRPr sz="240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85423-CDDE-4C80-C089-CF9676536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E58F2-9115-44C7-4DEB-1B42905FC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142999"/>
          </a:xfrm>
        </p:spPr>
        <p:txBody>
          <a:bodyPr/>
          <a:lstStyle/>
          <a:p>
            <a:r>
              <a:rPr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Cleaning</a:t>
            </a:r>
            <a:r>
              <a:rPr lang="en-I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Pre-processing</a:t>
            </a:r>
            <a:endParaRPr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13FD5-BA4C-E418-B194-3AE6ED5E69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2133" y="1453896"/>
            <a:ext cx="7704667" cy="4545920"/>
          </a:xfrm>
        </p:spPr>
        <p:txBody>
          <a:bodyPr>
            <a:normAutofit/>
          </a:bodyPr>
          <a:lstStyle/>
          <a:p>
            <a:pPr>
              <a:defRPr sz="240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Standardized Release date formats for consistency.</a:t>
            </a:r>
          </a:p>
          <a:p>
            <a:pPr>
              <a:defRPr sz="2400"/>
            </a:pPr>
            <a:r>
              <a:rPr 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Formula: =IF(ISNUMBER(D2),TEXT(D2,"dd-mm-	</a:t>
            </a:r>
            <a:r>
              <a:rPr lang="en-US" sz="1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yyyy</a:t>
            </a:r>
            <a:r>
              <a:rPr 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"),IF(ISNUMBER(SEARCH("/",D2)),TEXT(DATE(RIGHT(D2,4),LEFT(D2,FIN	D("/",D2)-		1),MID(D2,FIND("/",D2)+1,FIND("/",D2,FIND("/",D2)+1)-	FIND("/",D2)-1)),"dd-mm-	</a:t>
            </a:r>
            <a:r>
              <a:rPr lang="en-US" sz="1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yyyy</a:t>
            </a:r>
            <a:r>
              <a:rPr 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"),TEXT(DATE(RIGHT(D2,4),MID(D2,4,2),LEFT(D2,2)),"dd-mm-</a:t>
            </a:r>
            <a:r>
              <a:rPr lang="en-US" sz="1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yyyy</a:t>
            </a:r>
            <a:r>
              <a:rPr lang="en-US" sz="1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")))</a:t>
            </a:r>
          </a:p>
          <a:p>
            <a:pPr>
              <a:defRPr sz="240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Converted all the columns to the correct data types.</a:t>
            </a:r>
          </a:p>
          <a:p>
            <a:pPr>
              <a:defRPr sz="240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Validated the dataset to ensure completeness and consistency before analysis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7483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27AB3-CD34-3AFF-1D67-33AFEB652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D89FA-1091-8374-60C9-72CA3B58A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142999"/>
          </a:xfrm>
        </p:spPr>
        <p:txBody>
          <a:bodyPr/>
          <a:lstStyle/>
          <a:p>
            <a:r>
              <a:rPr lang="en-I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3E7D4-C781-2D8E-B5D4-3B59F7E68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2133" y="1453896"/>
            <a:ext cx="7704667" cy="4545920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Excel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TRIM, CLEAN, SUBSTITUTE, PROPER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MEAN, MEDIAN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Pivot Tables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Descriptive Statistics 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Charts 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BI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Calculated Measures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KPI Card’s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Dashboard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Visualizations</a:t>
            </a:r>
          </a:p>
        </p:txBody>
      </p:sp>
    </p:spTree>
    <p:extLst>
      <p:ext uri="{BB962C8B-B14F-4D97-AF65-F5344CB8AC3E}">
        <p14:creationId xmlns:p14="http://schemas.microsoft.com/office/powerpoint/2010/main" val="1204674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5285" y="146304"/>
            <a:ext cx="7704667" cy="749807"/>
          </a:xfrm>
        </p:spPr>
        <p:txBody>
          <a:bodyPr>
            <a:normAutofit fontScale="90000"/>
          </a:bodyPr>
          <a:lstStyle/>
          <a:p>
            <a:pPr>
              <a:defRPr sz="2400"/>
            </a:pPr>
            <a:r>
              <a:rPr lang="en-US" sz="4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KPI’s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1216152"/>
            <a:ext cx="7704667" cy="5120640"/>
          </a:xfrm>
        </p:spPr>
        <p:txBody>
          <a:bodyPr>
            <a:no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Dataset Metrics</a:t>
            </a:r>
          </a:p>
          <a:p>
            <a:pPr marL="0" indent="0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🎵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Songs: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4,585</a:t>
            </a:r>
          </a:p>
          <a:p>
            <a:pPr marL="0" indent="0">
              <a:buNone/>
            </a:pPr>
            <a:r>
              <a:rPr lang="en-IN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IN" sz="18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Total_Songs</a:t>
            </a:r>
            <a:r>
              <a:rPr lang="en-IN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COUNTA(DA_GP_ANB19_Cleaned[Track])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contains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4,585 songs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from various artists and albums across multiple music streaming platforms. </a:t>
            </a:r>
          </a:p>
          <a:p>
            <a:pPr marL="0" indent="0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🎤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Unique Artists: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2,065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2,065 unique artists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enabling analysis of artist performance, popularity, and streaming trends. </a:t>
            </a:r>
          </a:p>
          <a:p>
            <a:pPr marL="0" indent="0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IN" sz="18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Unique_Artist</a:t>
            </a:r>
            <a:r>
              <a:rPr lang="en-IN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DISTINCTCOUNT(DA_GP_ANB19_Cleaned[Artist])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💿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Albums: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4,032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4,032 albums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allowing comparison of album popularity and overall performance.</a:t>
            </a:r>
          </a:p>
          <a:p>
            <a:r>
              <a:rPr lang="en-IN" sz="18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Total_albums</a:t>
            </a:r>
            <a:r>
              <a:rPr lang="en-IN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DISTINCTCOUNT(DA_GP_ANB19_Cleaned[Album Name])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283465"/>
            <a:ext cx="7704667" cy="1307591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Dashboard Demonstration</a:t>
            </a:r>
            <a:endParaRPr dirty="0">
              <a:solidFill>
                <a:srgbClr val="FF0000"/>
              </a:solidFill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4A3673B-1FCF-138E-CBE9-94448A0ED5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77638" y="1591056"/>
            <a:ext cx="7637177" cy="44531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F8F85-B5E3-ADE1-CE1C-61CA57BDD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1ECE7-0D69-D4CE-4083-21DB2BB4E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133" y="338329"/>
            <a:ext cx="7704667" cy="1197863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Dashboard Demonstration</a:t>
            </a:r>
            <a:endParaRPr dirty="0">
              <a:solidFill>
                <a:srgbClr val="FF000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CE9F34E-6DC6-7F4C-F0F7-FC7BE1C09A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78121" y="1609344"/>
            <a:ext cx="7313221" cy="4389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3868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9ED9A-9C45-1F62-E458-3D985D6B2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BF343-0C75-36F3-5BCF-F9D44DAB6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2133" y="338329"/>
            <a:ext cx="7704667" cy="1197863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Dashboard Demonstration</a:t>
            </a:r>
            <a:endParaRPr dirty="0">
              <a:solidFill>
                <a:srgbClr val="FF0000"/>
              </a:solidFill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04DB883-86D6-2C55-796D-156B2ED2FA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843" y="1783080"/>
            <a:ext cx="7269777" cy="4216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1217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024127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Insights &amp; Findings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1033272"/>
            <a:ext cx="7704667" cy="4966544"/>
          </a:xfrm>
        </p:spPr>
        <p:txBody>
          <a:bodyPr>
            <a:normAutofit fontScale="85000" lnSpcReduction="10000"/>
          </a:bodyPr>
          <a:lstStyle/>
          <a:p>
            <a:pPr>
              <a:buFont typeface="Arial" panose="020B0604020202020204" pitchFamily="34" charset="0"/>
              <a:buChar char="•"/>
              <a:defRPr sz="2400"/>
            </a:pP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Analyzed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4,585 songs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from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2,065 unique artists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across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4,031 albums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The dataset spans releases from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1987 to 2024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enabling long-term trend analysis.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Kevin MacLeod, Bad Bunny, and Taylor Swift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among the top-streamed artists.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Taylor Swift, Drake, and Bad Bunny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the most frequently featured artists.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small number of songs account for the highest Spotify streams, indicating a skewed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Albums with top-performing tracks consistently achieve higher Spotify popularity.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Spotify and TikTok contribute the largest share of audience reach.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Music releases have increased significantly in recent years, with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2023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being the most productive release year.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Recent releases generally show stronger streaming performance than older releases.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Higher Spotify streams tend to align with higher YouTube views, suggesting positive cross-platform engagement.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Playlist exposure appears to support higher song popularity and discoverability.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161287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1549" y="1618488"/>
            <a:ext cx="7704667" cy="3375488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  <a:defRPr sz="240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Prioritize promotions on Spotify and TikTok.</a:t>
            </a:r>
          </a:p>
          <a:p>
            <a:pPr>
              <a:buFont typeface="Arial" panose="020B0604020202020204" pitchFamily="34" charset="0"/>
              <a:buChar char="•"/>
              <a:defRPr sz="240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Increase playlist placements to improve song visibility.</a:t>
            </a:r>
          </a:p>
          <a:p>
            <a:pPr>
              <a:buFont typeface="Arial" panose="020B0604020202020204" pitchFamily="34" charset="0"/>
              <a:buChar char="•"/>
              <a:defRPr sz="240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Leverage collaborations with top-performing artists.</a:t>
            </a:r>
          </a:p>
          <a:p>
            <a:pPr>
              <a:buFont typeface="Arial" panose="020B0604020202020204" pitchFamily="34" charset="0"/>
              <a:buChar char="•"/>
              <a:defRPr sz="240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Track cross-platform performance to optimize marketing strategies.</a:t>
            </a:r>
          </a:p>
          <a:p>
            <a:pPr>
              <a:buFont typeface="Arial" panose="020B0604020202020204" pitchFamily="34" charset="0"/>
              <a:buChar char="•"/>
              <a:defRPr sz="240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Focus promotional campaigns on newly released songs to maximize audience engagement.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1" y="685800"/>
            <a:ext cx="7704667" cy="2624329"/>
          </a:xfrm>
        </p:spPr>
        <p:txBody>
          <a:bodyPr>
            <a:normAutofit fontScale="90000"/>
          </a:bodyPr>
          <a:lstStyle/>
          <a:p>
            <a:r>
              <a:rPr dirty="0">
                <a:solidFill>
                  <a:srgbClr val="FF0000"/>
                </a:solidFill>
              </a:rPr>
              <a:t>Thank You</a:t>
            </a:r>
            <a:r>
              <a:rPr lang="en-IN" dirty="0">
                <a:solidFill>
                  <a:srgbClr val="FF0000"/>
                </a:solidFill>
              </a:rPr>
              <a:t>!</a:t>
            </a:r>
            <a:br>
              <a:rPr lang="en-IN" dirty="0">
                <a:solidFill>
                  <a:srgbClr val="FF0000"/>
                </a:solidFill>
              </a:rPr>
            </a:br>
            <a:br>
              <a:rPr lang="en-IN" dirty="0">
                <a:solidFill>
                  <a:srgbClr val="FF0000"/>
                </a:solidFill>
              </a:rPr>
            </a:br>
            <a:br>
              <a:rPr lang="en-IN" dirty="0">
                <a:solidFill>
                  <a:srgbClr val="FF0000"/>
                </a:solidFill>
              </a:rPr>
            </a:br>
            <a:r>
              <a:rPr lang="en-IN" dirty="0">
                <a:solidFill>
                  <a:srgbClr val="FF0000"/>
                </a:solidFill>
              </a:rPr>
              <a:t>Thank you for your time and attention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2" y="3088472"/>
            <a:ext cx="7704667" cy="880024"/>
          </a:xfrm>
        </p:spPr>
        <p:txBody>
          <a:bodyPr/>
          <a:lstStyle/>
          <a:p>
            <a:pPr marL="0" indent="0" algn="ctr">
              <a:buNone/>
              <a:defRPr sz="2400"/>
            </a:pPr>
            <a:r>
              <a:rPr lang="en-IN" dirty="0">
                <a:solidFill>
                  <a:srgbClr val="FF0000"/>
                </a:solidFill>
              </a:rPr>
              <a:t>Questions &amp; Answers</a:t>
            </a:r>
            <a:endParaRPr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BC1C1C"/>
      </a:accent1>
      <a:accent2>
        <a:srgbClr val="F67534"/>
      </a:accent2>
      <a:accent3>
        <a:srgbClr val="EAAC35"/>
      </a:accent3>
      <a:accent4>
        <a:srgbClr val="9BAF68"/>
      </a:accent4>
      <a:accent5>
        <a:srgbClr val="68B9A6"/>
      </a:accent5>
      <a:accent6>
        <a:srgbClr val="50B1D4"/>
      </a:accent6>
      <a:hlink>
        <a:srgbClr val="E46416"/>
      </a:hlink>
      <a:folHlink>
        <a:srgbClr val="EE9340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93B4CCAC-FD5A-4D59-B1AC-EAF45910B5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3154</TotalTime>
  <Words>1003</Words>
  <Application>Microsoft Office PowerPoint</Application>
  <PresentationFormat>On-screen Show (4:3)</PresentationFormat>
  <Paragraphs>103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Corbel</vt:lpstr>
      <vt:lpstr>Times New Roman</vt:lpstr>
      <vt:lpstr>Parallax</vt:lpstr>
      <vt:lpstr>AI DRIVEN DATA ANALYTICS</vt:lpstr>
      <vt:lpstr>TEAM MEMBERS</vt:lpstr>
      <vt:lpstr>Agenda</vt:lpstr>
      <vt:lpstr>Project Overview &amp; Objectives</vt:lpstr>
      <vt:lpstr>Problem Statement</vt:lpstr>
      <vt:lpstr>Dataset Overview</vt:lpstr>
      <vt:lpstr>Data Cleaning &amp; Pre-processing</vt:lpstr>
      <vt:lpstr>Data Cleaning &amp; Pre-processing</vt:lpstr>
      <vt:lpstr>Tools Used</vt:lpstr>
      <vt:lpstr>KPI’s</vt:lpstr>
      <vt:lpstr>Dashboard Demonstration</vt:lpstr>
      <vt:lpstr>Dashboard Demonstration</vt:lpstr>
      <vt:lpstr>Dashboard Demonstration</vt:lpstr>
      <vt:lpstr>Key Insights &amp; Findings </vt:lpstr>
      <vt:lpstr>Conclusion</vt:lpstr>
      <vt:lpstr>Thank You!   Thank you for your time and attention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Ramya</dc:creator>
  <cp:keywords/>
  <dc:description>generated using python-pptx</dc:description>
  <cp:lastModifiedBy>inspirer2545@outlook.com</cp:lastModifiedBy>
  <cp:revision>96</cp:revision>
  <dcterms:created xsi:type="dcterms:W3CDTF">2013-01-27T09:14:16Z</dcterms:created>
  <dcterms:modified xsi:type="dcterms:W3CDTF">2026-07-25T12:28:24Z</dcterms:modified>
  <cp:category/>
</cp:coreProperties>
</file>